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371600" y="1371600"/>
            <a:ext cx="9448495" cy="4114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1828800"/>
            <a:ext cx="85340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38BDF8"/>
                </a:solidFill>
                <a:latin typeface="Segoe UI"/>
              </a:defRPr>
            </a:pPr>
            <a:r>
              <a:t>INSIGHTS COPILOT</a:t>
            </a:r>
          </a:p>
          <a:p>
            <a:pPr algn="ctr">
              <a:spcBef>
                <a:spcPts val="1000"/>
              </a:spcBef>
              <a:defRPr sz="2200">
                <a:solidFill>
                  <a:srgbClr val="F8FAFC"/>
                </a:solidFill>
                <a:latin typeface="Segoe UI"/>
              </a:defRPr>
            </a:pPr>
            <a:r>
              <a:t>Autonomous AI Co-Founder</a:t>
            </a:r>
          </a:p>
          <a:p>
            <a:pPr algn="ctr">
              <a:spcBef>
                <a:spcPts val="2000"/>
              </a:spcBef>
              <a:defRPr sz="1600" i="1">
                <a:solidFill>
                  <a:srgbClr val="94A3B8"/>
                </a:solidFill>
                <a:latin typeface="Segoe UI"/>
              </a:defRPr>
            </a:pPr>
            <a:r>
              <a:t>"An AI co-founder that scores your startup idea and turns it into a milestone plan you'll actually follow."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THE PROBLEM</a:t>
            </a:r>
          </a:p>
          <a:p>
            <a:pPr>
              <a:defRPr sz="2800" b="1">
                <a:solidFill>
                  <a:srgbClr val="F8FAFC"/>
                </a:solidFill>
                <a:latin typeface="Segoe UI"/>
              </a:defRPr>
            </a:pPr>
            <a:r>
              <a:t>The Early-Stage Founder Bottleneck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328416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920240"/>
            <a:ext cx="2779776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8BDF8"/>
                </a:solidFill>
                <a:latin typeface="Segoe UI"/>
              </a:defRPr>
            </a:pPr>
            <a:r>
              <a:t>Lack of Honest Evaluation</a:t>
            </a:r>
          </a:p>
          <a:p>
            <a:pPr>
              <a:spcBef>
                <a:spcPts val="1200"/>
              </a:spcBef>
              <a:defRPr sz="1400">
                <a:solidFill>
                  <a:srgbClr val="F8FAFC"/>
                </a:solidFill>
                <a:latin typeface="Segoe UI"/>
              </a:defRPr>
            </a:pPr>
            <a:r>
              <a:t>• Builders create endless ideas</a:t>
            </a:r>
          </a:p>
          <a:p>
            <a:pPr>
              <a:spcBef>
                <a:spcPts val="1200"/>
              </a:spcBef>
              <a:defRPr sz="1400">
                <a:solidFill>
                  <a:srgbClr val="F8FAFC"/>
                </a:solidFill>
                <a:latin typeface="Segoe UI"/>
              </a:defRPr>
            </a:pPr>
            <a:r>
              <a:t>• No objective validation metric</a:t>
            </a:r>
          </a:p>
          <a:p>
            <a:pPr>
              <a:spcBef>
                <a:spcPts val="1200"/>
              </a:spcBef>
              <a:defRPr sz="1400">
                <a:solidFill>
                  <a:srgbClr val="F8FAFC"/>
                </a:solidFill>
                <a:latin typeface="Segoe UI"/>
              </a:defRPr>
            </a:pPr>
            <a:r>
              <a:t>• Biased feedback from peers</a:t>
            </a:r>
          </a:p>
          <a:p>
            <a:pPr>
              <a:spcBef>
                <a:spcPts val="1200"/>
              </a:spcBef>
              <a:defRPr sz="1400">
                <a:solidFill>
                  <a:srgbClr val="F8FAFC"/>
                </a:solidFill>
                <a:latin typeface="Segoe UI"/>
              </a:defRPr>
            </a:pPr>
            <a:r>
              <a:t>• High chance of building dead-ends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3400" y="1645920"/>
            <a:ext cx="3328416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17720" y="1920240"/>
            <a:ext cx="2779776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8BDF8"/>
                </a:solidFill>
                <a:latin typeface="Segoe UI"/>
              </a:defRPr>
            </a:pPr>
            <a:r>
              <a:t>No Execution Structure</a:t>
            </a:r>
          </a:p>
          <a:p>
            <a:pPr>
              <a:spcBef>
                <a:spcPts val="1200"/>
              </a:spcBef>
              <a:defRPr sz="1400">
                <a:solidFill>
                  <a:srgbClr val="F8FAFC"/>
                </a:solidFill>
                <a:latin typeface="Segoe UI"/>
              </a:defRPr>
            </a:pPr>
            <a:r>
              <a:t>• Lack concrete milestone roadmaps</a:t>
            </a:r>
          </a:p>
          <a:p>
            <a:pPr>
              <a:spcBef>
                <a:spcPts val="1200"/>
              </a:spcBef>
              <a:defRPr sz="1400">
                <a:solidFill>
                  <a:srgbClr val="F8FAFC"/>
                </a:solidFill>
                <a:latin typeface="Segoe UI"/>
              </a:defRPr>
            </a:pPr>
            <a:r>
              <a:t>• Overwhelmed by initial scope</a:t>
            </a:r>
          </a:p>
          <a:p>
            <a:pPr>
              <a:spcBef>
                <a:spcPts val="1200"/>
              </a:spcBef>
              <a:defRPr sz="1400">
                <a:solidFill>
                  <a:srgbClr val="F8FAFC"/>
                </a:solidFill>
                <a:latin typeface="Segoe UI"/>
              </a:defRPr>
            </a:pPr>
            <a:r>
              <a:t>• Difficulty maintaining momentum</a:t>
            </a:r>
          </a:p>
          <a:p>
            <a:pPr>
              <a:spcBef>
                <a:spcPts val="1200"/>
              </a:spcBef>
              <a:defRPr sz="1400">
                <a:solidFill>
                  <a:srgbClr val="F8FAFC"/>
                </a:solidFill>
                <a:latin typeface="Segoe UI"/>
              </a:defRPr>
            </a:pPr>
            <a:r>
              <a:t>• High rate of abandoned projects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80" y="1645920"/>
            <a:ext cx="3328416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0" y="1920240"/>
            <a:ext cx="2779776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8BDF8"/>
                </a:solidFill>
                <a:latin typeface="Segoe UI"/>
              </a:defRPr>
            </a:pPr>
            <a:r>
              <a:t>Flaws of Generic AI Chat</a:t>
            </a:r>
          </a:p>
          <a:p>
            <a:pPr>
              <a:spcBef>
                <a:spcPts val="1200"/>
              </a:spcBef>
              <a:defRPr sz="1400">
                <a:solidFill>
                  <a:srgbClr val="F8FAFC"/>
                </a:solidFill>
                <a:latin typeface="Segoe UI"/>
              </a:defRPr>
            </a:pPr>
            <a:r>
              <a:t>• Chatbots brainstorm without scoring</a:t>
            </a:r>
          </a:p>
          <a:p>
            <a:pPr>
              <a:spcBef>
                <a:spcPts val="1200"/>
              </a:spcBef>
              <a:defRPr sz="1400">
                <a:solidFill>
                  <a:srgbClr val="F8FAFC"/>
                </a:solidFill>
                <a:latin typeface="Segoe UI"/>
              </a:defRPr>
            </a:pPr>
            <a:r>
              <a:t>• Zero progress or milestone tracking</a:t>
            </a:r>
          </a:p>
          <a:p>
            <a:pPr>
              <a:spcBef>
                <a:spcPts val="1200"/>
              </a:spcBef>
              <a:defRPr sz="1400">
                <a:solidFill>
                  <a:srgbClr val="F8FAFC"/>
                </a:solidFill>
                <a:latin typeface="Segoe UI"/>
              </a:defRPr>
            </a:pPr>
            <a:r>
              <a:t>• No proactive follow-ups or nudges</a:t>
            </a:r>
          </a:p>
          <a:p>
            <a:pPr>
              <a:spcBef>
                <a:spcPts val="1200"/>
              </a:spcBef>
              <a:defRPr sz="1400">
                <a:solidFill>
                  <a:srgbClr val="F8FAFC"/>
                </a:solidFill>
                <a:latin typeface="Segoe UI"/>
              </a:defRPr>
            </a:pPr>
            <a:r>
              <a:t>• Context lost after session ends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THE SOLUTION</a:t>
            </a:r>
          </a:p>
          <a:p>
            <a:pPr>
              <a:defRPr sz="2800" b="1">
                <a:solidFill>
                  <a:srgbClr val="F8FAFC"/>
                </a:solidFill>
                <a:latin typeface="Segoe UI"/>
              </a:defRPr>
            </a:pPr>
            <a:r>
              <a:t>Autonomous End-to-End Execution Pipeline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2011680"/>
            <a:ext cx="1993392" cy="40233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194560"/>
            <a:ext cx="162763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Segoe UI"/>
              </a:defRPr>
            </a:pPr>
            <a:r>
              <a:t>1. Input</a:t>
            </a:r>
          </a:p>
          <a:p>
            <a:pPr>
              <a:spcBef>
                <a:spcPts val="1000"/>
              </a:spcBef>
              <a:defRPr sz="1600" b="1">
                <a:solidFill>
                  <a:srgbClr val="F8FAFC"/>
                </a:solidFill>
                <a:latin typeface="Segoe UI"/>
              </a:defRPr>
            </a:pPr>
            <a:r>
              <a:t>Raw Startup Idea</a:t>
            </a:r>
          </a:p>
          <a:p>
            <a:pPr>
              <a:spcBef>
                <a:spcPts val="1200"/>
              </a:spcBef>
              <a:defRPr sz="1300">
                <a:solidFill>
                  <a:srgbClr val="94A3B8"/>
                </a:solidFill>
                <a:latin typeface="Segoe UI"/>
              </a:defRPr>
            </a:pPr>
            <a:r>
              <a:t>Founder submits concept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889504" y="2011680"/>
            <a:ext cx="1993392" cy="40233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072384" y="2194560"/>
            <a:ext cx="162763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Segoe UI"/>
              </a:defRPr>
            </a:pPr>
            <a:r>
              <a:t>2. Research &amp; Score</a:t>
            </a:r>
          </a:p>
          <a:p>
            <a:pPr>
              <a:spcBef>
                <a:spcPts val="1000"/>
              </a:spcBef>
              <a:defRPr sz="1600" b="1">
                <a:solidFill>
                  <a:srgbClr val="F8FAFC"/>
                </a:solidFill>
                <a:latin typeface="Segoe UI"/>
              </a:defRPr>
            </a:pPr>
            <a:r>
              <a:t>Planner/Critic Pipeline</a:t>
            </a:r>
          </a:p>
          <a:p>
            <a:pPr>
              <a:spcBef>
                <a:spcPts val="1200"/>
              </a:spcBef>
              <a:defRPr sz="1300">
                <a:solidFill>
                  <a:srgbClr val="94A3B8"/>
                </a:solidFill>
                <a:latin typeface="Segoe UI"/>
              </a:defRPr>
            </a:pPr>
            <a:r>
              <a:t>Evaluates feasibility &amp; impact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47488" y="2011680"/>
            <a:ext cx="1993392" cy="40233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30368" y="2194560"/>
            <a:ext cx="162763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Segoe UI"/>
              </a:defRPr>
            </a:pPr>
            <a:r>
              <a:t>3. Roadmap</a:t>
            </a:r>
          </a:p>
          <a:p>
            <a:pPr>
              <a:spcBef>
                <a:spcPts val="1000"/>
              </a:spcBef>
              <a:defRPr sz="1600" b="1">
                <a:solidFill>
                  <a:srgbClr val="F8FAFC"/>
                </a:solidFill>
                <a:latin typeface="Segoe UI"/>
              </a:defRPr>
            </a:pPr>
            <a:r>
              <a:t>Milestone Generation</a:t>
            </a:r>
          </a:p>
          <a:p>
            <a:pPr>
              <a:spcBef>
                <a:spcPts val="1200"/>
              </a:spcBef>
              <a:defRPr sz="1300">
                <a:solidFill>
                  <a:srgbClr val="94A3B8"/>
                </a:solidFill>
                <a:latin typeface="Segoe UI"/>
              </a:defRPr>
            </a:pPr>
            <a:r>
              <a:t>Actionable step-by-step tasks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5472" y="2011680"/>
            <a:ext cx="1993392" cy="40233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88352" y="2194560"/>
            <a:ext cx="162763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Segoe UI"/>
              </a:defRPr>
            </a:pPr>
            <a:r>
              <a:t>4. Dashboard</a:t>
            </a:r>
          </a:p>
          <a:p>
            <a:pPr>
              <a:spcBef>
                <a:spcPts val="1000"/>
              </a:spcBef>
              <a:defRPr sz="1600" b="1">
                <a:solidFill>
                  <a:srgbClr val="F8FAFC"/>
                </a:solidFill>
                <a:latin typeface="Segoe UI"/>
              </a:defRPr>
            </a:pPr>
            <a:r>
              <a:t>Builder Workspace</a:t>
            </a:r>
          </a:p>
          <a:p>
            <a:pPr>
              <a:spcBef>
                <a:spcPts val="1200"/>
              </a:spcBef>
              <a:defRPr sz="1300">
                <a:solidFill>
                  <a:srgbClr val="94A3B8"/>
                </a:solidFill>
                <a:latin typeface="Segoe UI"/>
              </a:defRPr>
            </a:pPr>
            <a:r>
              <a:t>Tracks real-time score &amp; state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63456" y="2011680"/>
            <a:ext cx="1993392" cy="40233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46336" y="2194560"/>
            <a:ext cx="162763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Segoe UI"/>
              </a:defRPr>
            </a:pPr>
            <a:r>
              <a:t>5. Follow-up</a:t>
            </a:r>
          </a:p>
          <a:p>
            <a:pPr>
              <a:spcBef>
                <a:spcPts val="1000"/>
              </a:spcBef>
              <a:defRPr sz="1600" b="1">
                <a:solidFill>
                  <a:srgbClr val="F8FAFC"/>
                </a:solidFill>
                <a:latin typeface="Segoe UI"/>
              </a:defRPr>
            </a:pPr>
            <a:r>
              <a:t>Telegram Nudge Bot</a:t>
            </a:r>
          </a:p>
          <a:p>
            <a:pPr>
              <a:spcBef>
                <a:spcPts val="1200"/>
              </a:spcBef>
              <a:defRPr sz="1300">
                <a:solidFill>
                  <a:srgbClr val="94A3B8"/>
                </a:solidFill>
                <a:latin typeface="Segoe UI"/>
              </a:defRPr>
            </a:pPr>
            <a:r>
              <a:t>Automated proactive reminders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PRODUCT DEMO</a:t>
            </a:r>
          </a:p>
          <a:p>
            <a:pPr>
              <a:defRPr sz="2800" b="1">
                <a:solidFill>
                  <a:srgbClr val="F8FAFC"/>
                </a:solidFill>
                <a:latin typeface="Segoe UI"/>
              </a:defRPr>
            </a:pPr>
            <a:r>
              <a:t>Builder Dashboard &amp; Founder Profile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106984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05840" y="1828800"/>
            <a:ext cx="2377440" cy="9144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92024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ACTIVE WORKSPACES</a:t>
            </a:r>
          </a:p>
          <a:p>
            <a:pPr>
              <a:defRPr sz="1600" b="1">
                <a:solidFill>
                  <a:srgbClr val="38BDF8"/>
                </a:solidFill>
                <a:latin typeface="Segoe UI"/>
              </a:defRPr>
            </a:pPr>
            <a:r>
              <a:t>4 Ideas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11880" y="1828800"/>
            <a:ext cx="2377440" cy="9144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703320" y="192024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COMPOSITE SCORE</a:t>
            </a:r>
          </a:p>
          <a:p>
            <a:pPr>
              <a:defRPr sz="1600" b="1">
                <a:solidFill>
                  <a:srgbClr val="38BDF8"/>
                </a:solidFill>
                <a:latin typeface="Segoe UI"/>
              </a:defRPr>
            </a:pPr>
            <a:r>
              <a:t>82 / 100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828800"/>
            <a:ext cx="2377440" cy="9144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192024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MILESTONES DONE</a:t>
            </a:r>
          </a:p>
          <a:p>
            <a:pPr>
              <a:defRPr sz="1600" b="1">
                <a:solidFill>
                  <a:srgbClr val="38BDF8"/>
                </a:solidFill>
                <a:latin typeface="Segoe UI"/>
              </a:defRPr>
            </a:pPr>
            <a:r>
              <a:t>12 Completed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23960" y="1828800"/>
            <a:ext cx="2377440" cy="9144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15400" y="192024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TELEGRAM STATUS</a:t>
            </a:r>
          </a:p>
          <a:p>
            <a:pPr>
              <a:defRPr sz="1600" b="1">
                <a:solidFill>
                  <a:srgbClr val="38BDF8"/>
                </a:solidFill>
                <a:latin typeface="Segoe UI"/>
              </a:defRPr>
            </a:pPr>
            <a:r>
              <a:t>Connected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05840" y="3017520"/>
            <a:ext cx="3200400" cy="28346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3200400"/>
            <a:ext cx="28346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8FAFC"/>
                </a:solidFill>
                <a:latin typeface="Segoe UI"/>
              </a:defRPr>
            </a:pPr>
            <a:r>
              <a:t>AI Code Reviewer</a:t>
            </a:r>
          </a:p>
          <a:p>
            <a:pPr>
              <a:spcBef>
                <a:spcPts val="800"/>
              </a:spcBef>
              <a:defRPr sz="1300">
                <a:solidFill>
                  <a:srgbClr val="38BDF8"/>
                </a:solidFill>
                <a:latin typeface="Segoe UI"/>
              </a:defRPr>
            </a:pPr>
            <a:r>
              <a:t>Score: 88 | Feasibility: High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  <a:latin typeface="Segoe UI"/>
              </a:defRPr>
            </a:pPr>
            <a:r>
              <a:t>Milestone 3/5: Integration Tests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80560" y="3017520"/>
            <a:ext cx="3200400" cy="28346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3440" y="3200400"/>
            <a:ext cx="28346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8FAFC"/>
                </a:solidFill>
                <a:latin typeface="Segoe UI"/>
              </a:defRPr>
            </a:pPr>
            <a:r>
              <a:t>Market Analytics SaaS</a:t>
            </a:r>
          </a:p>
          <a:p>
            <a:pPr>
              <a:spcBef>
                <a:spcPts val="800"/>
              </a:spcBef>
              <a:defRPr sz="1300">
                <a:solidFill>
                  <a:srgbClr val="38BDF8"/>
                </a:solidFill>
                <a:latin typeface="Segoe UI"/>
              </a:defRPr>
            </a:pPr>
            <a:r>
              <a:t>Score: 74 | Feasibility: Med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  <a:latin typeface="Segoe UI"/>
              </a:defRPr>
            </a:pPr>
            <a:r>
              <a:t>Milestone 1/4: Customer Survey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55279" y="3017520"/>
            <a:ext cx="3200400" cy="28346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38159" y="3200400"/>
            <a:ext cx="28346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8FAFC"/>
                </a:solidFill>
                <a:latin typeface="Segoe UI"/>
              </a:defRPr>
            </a:pPr>
            <a:r>
              <a:t>DevOps Automator</a:t>
            </a:r>
          </a:p>
          <a:p>
            <a:pPr>
              <a:spcBef>
                <a:spcPts val="800"/>
              </a:spcBef>
              <a:defRPr sz="1300">
                <a:solidFill>
                  <a:srgbClr val="38BDF8"/>
                </a:solidFill>
                <a:latin typeface="Segoe UI"/>
              </a:defRPr>
            </a:pPr>
            <a:r>
              <a:t>Score: 81 | Feasibility: High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  <a:latin typeface="Segoe UI"/>
              </a:defRPr>
            </a:pPr>
            <a:r>
              <a:t>Milestone 4/4: Deploy Staging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PRODUCT DEMO</a:t>
            </a:r>
          </a:p>
          <a:p>
            <a:pPr>
              <a:defRPr sz="2800" b="1">
                <a:solidFill>
                  <a:srgbClr val="F8FAFC"/>
                </a:solidFill>
                <a:latin typeface="Segoe UI"/>
              </a:defRPr>
            </a:pPr>
            <a:r>
              <a:t>Progress Tracking &amp; Proactive Nudges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52120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8BDF8"/>
                </a:solidFill>
                <a:latin typeface="Segoe UI"/>
              </a:defRPr>
            </a:pPr>
            <a:r>
              <a:t>Needs Attention Dashboard View</a:t>
            </a:r>
          </a:p>
          <a:p>
            <a:pPr>
              <a:spcBef>
                <a:spcPts val="1400"/>
              </a:spcBef>
              <a:defRPr sz="1400">
                <a:solidFill>
                  <a:srgbClr val="F8FAFC"/>
                </a:solidFill>
                <a:latin typeface="Segoe UI"/>
              </a:defRPr>
            </a:pPr>
            <a:r>
              <a:t>• Identifies stale workspace milestones</a:t>
            </a:r>
          </a:p>
          <a:p>
            <a:pPr>
              <a:spcBef>
                <a:spcPts val="1400"/>
              </a:spcBef>
              <a:defRPr sz="1400">
                <a:solidFill>
                  <a:srgbClr val="F8FAFC"/>
                </a:solidFill>
                <a:latin typeface="Segoe UI"/>
              </a:defRPr>
            </a:pPr>
            <a:r>
              <a:t>• Flags stagnant ideas needing action</a:t>
            </a:r>
          </a:p>
          <a:p>
            <a:pPr>
              <a:spcBef>
                <a:spcPts val="1400"/>
              </a:spcBef>
              <a:defRPr sz="1400">
                <a:solidFill>
                  <a:srgbClr val="F8FAFC"/>
                </a:solidFill>
                <a:latin typeface="Segoe UI"/>
              </a:defRPr>
            </a:pPr>
            <a:r>
              <a:t>• Tracks time elapsed since last check-in</a:t>
            </a:r>
          </a:p>
          <a:p>
            <a:pPr>
              <a:spcBef>
                <a:spcPts val="1400"/>
              </a:spcBef>
              <a:defRPr sz="1400">
                <a:solidFill>
                  <a:srgbClr val="F8FAFC"/>
                </a:solidFill>
                <a:latin typeface="Segoe UI"/>
              </a:defRPr>
            </a:pPr>
            <a:r>
              <a:t>• Direct link to resolve milestone blockers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554480"/>
            <a:ext cx="52120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0" y="182880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8BDF8"/>
                </a:solidFill>
                <a:latin typeface="Segoe UI"/>
              </a:defRPr>
            </a:pPr>
            <a:r>
              <a:t>Telegram Nudge Loop Integration</a:t>
            </a:r>
          </a:p>
          <a:p>
            <a:pPr>
              <a:spcBef>
                <a:spcPts val="1400"/>
              </a:spcBef>
              <a:defRPr sz="1400">
                <a:solidFill>
                  <a:srgbClr val="F8FAFC"/>
                </a:solidFill>
                <a:latin typeface="Segoe UI"/>
              </a:defRPr>
            </a:pPr>
            <a:r>
              <a:t>• Proactive milestone reminder alerts</a:t>
            </a:r>
          </a:p>
          <a:p>
            <a:pPr>
              <a:spcBef>
                <a:spcPts val="1400"/>
              </a:spcBef>
              <a:defRPr sz="1400">
                <a:solidFill>
                  <a:srgbClr val="F8FAFC"/>
                </a:solidFill>
                <a:latin typeface="Segoe UI"/>
              </a:defRPr>
            </a:pPr>
            <a:r>
              <a:t>• Weekly automated execution digest</a:t>
            </a:r>
          </a:p>
          <a:p>
            <a:pPr>
              <a:spcBef>
                <a:spcPts val="1400"/>
              </a:spcBef>
              <a:defRPr sz="1400">
                <a:solidFill>
                  <a:srgbClr val="F8FAFC"/>
                </a:solidFill>
                <a:latin typeface="Segoe UI"/>
              </a:defRPr>
            </a:pPr>
            <a:r>
              <a:t>• Direct /done commands via chat</a:t>
            </a:r>
          </a:p>
          <a:p>
            <a:pPr>
              <a:spcBef>
                <a:spcPts val="1400"/>
              </a:spcBef>
              <a:defRPr sz="1400">
                <a:solidFill>
                  <a:srgbClr val="F8FAFC"/>
                </a:solidFill>
                <a:latin typeface="Segoe UI"/>
              </a:defRPr>
            </a:pPr>
            <a:r>
              <a:t>• Real-time sync back to Web App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DIFFERENTIATION</a:t>
            </a:r>
          </a:p>
          <a:p>
            <a:pPr>
              <a:defRPr sz="2800" b="1">
                <a:solidFill>
                  <a:srgbClr val="F8FAFC"/>
                </a:solidFill>
                <a:latin typeface="Segoe UI"/>
              </a:defRPr>
            </a:pPr>
            <a:r>
              <a:t>System of Record &amp; Multi-Provider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920240"/>
            <a:ext cx="44805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8BDF8"/>
                </a:solidFill>
                <a:latin typeface="Segoe UI"/>
              </a:defRPr>
            </a:pPr>
            <a:r>
              <a:t>System of Record over Time</a:t>
            </a:r>
          </a:p>
          <a:p>
            <a:pPr>
              <a:spcBef>
                <a:spcPts val="1600"/>
              </a:spcBef>
              <a:defRPr sz="1400">
                <a:solidFill>
                  <a:srgbClr val="F8FAFC"/>
                </a:solidFill>
                <a:latin typeface="Segoe UI"/>
              </a:defRPr>
            </a:pPr>
            <a:r>
              <a:t>• One-shot tools score once &amp; vanish</a:t>
            </a:r>
          </a:p>
          <a:p>
            <a:pPr>
              <a:spcBef>
                <a:spcPts val="1600"/>
              </a:spcBef>
              <a:defRPr sz="1400">
                <a:solidFill>
                  <a:srgbClr val="F8FAFC"/>
                </a:solidFill>
                <a:latin typeface="Segoe UI"/>
              </a:defRPr>
            </a:pPr>
            <a:r>
              <a:t>• Insights Copilot tracks full lifecycle</a:t>
            </a:r>
          </a:p>
          <a:p>
            <a:pPr>
              <a:spcBef>
                <a:spcPts val="1600"/>
              </a:spcBef>
              <a:defRPr sz="1400">
                <a:solidFill>
                  <a:srgbClr val="F8FAFC"/>
                </a:solidFill>
                <a:latin typeface="Segoe UI"/>
              </a:defRPr>
            </a:pPr>
            <a:r>
              <a:t>• Maintains long-term idea history</a:t>
            </a:r>
          </a:p>
          <a:p>
            <a:pPr>
              <a:spcBef>
                <a:spcPts val="1600"/>
              </a:spcBef>
              <a:defRPr sz="1400">
                <a:solidFill>
                  <a:srgbClr val="F8FAFC"/>
                </a:solidFill>
                <a:latin typeface="Segoe UI"/>
              </a:defRPr>
            </a:pPr>
            <a:r>
              <a:t>• Enables persistent Telegram nudge loop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72200" y="1645920"/>
            <a:ext cx="52120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37960" y="1920240"/>
            <a:ext cx="44805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8BDF8"/>
                </a:solidFill>
                <a:latin typeface="Segoe UI"/>
              </a:defRPr>
            </a:pPr>
            <a:r>
              <a:t>Multi-Provider Reliability Architecture</a:t>
            </a:r>
          </a:p>
          <a:p>
            <a:pPr>
              <a:spcBef>
                <a:spcPts val="1600"/>
              </a:spcBef>
              <a:defRPr sz="1400">
                <a:solidFill>
                  <a:srgbClr val="F8FAFC"/>
                </a:solidFill>
                <a:latin typeface="Segoe UI"/>
              </a:defRPr>
            </a:pPr>
            <a:r>
              <a:t>• Groq (Llama 3.3 70B) primary engine</a:t>
            </a:r>
          </a:p>
          <a:p>
            <a:pPr>
              <a:spcBef>
                <a:spcPts val="1600"/>
              </a:spcBef>
              <a:defRPr sz="1400">
                <a:solidFill>
                  <a:srgbClr val="F8FAFC"/>
                </a:solidFill>
                <a:latin typeface="Segoe UI"/>
              </a:defRPr>
            </a:pPr>
            <a:r>
              <a:t>• Gemini 2.5 Flash automatic fallback</a:t>
            </a:r>
          </a:p>
          <a:p>
            <a:pPr>
              <a:spcBef>
                <a:spcPts val="1600"/>
              </a:spcBef>
              <a:defRPr sz="1400">
                <a:solidFill>
                  <a:srgbClr val="F8FAFC"/>
                </a:solidFill>
                <a:latin typeface="Segoe UI"/>
              </a:defRPr>
            </a:pPr>
            <a:r>
              <a:t>• Zero downtime during rate limits</a:t>
            </a:r>
          </a:p>
          <a:p>
            <a:pPr>
              <a:spcBef>
                <a:spcPts val="1600"/>
              </a:spcBef>
              <a:defRPr sz="1400">
                <a:solidFill>
                  <a:srgbClr val="F8FAFC"/>
                </a:solidFill>
                <a:latin typeface="Segoe UI"/>
              </a:defRPr>
            </a:pPr>
            <a:r>
              <a:t>• Engineering resilience over UI tricks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TARGET USERS</a:t>
            </a:r>
          </a:p>
          <a:p>
            <a:pPr>
              <a:defRPr sz="2800" b="1">
                <a:solidFill>
                  <a:srgbClr val="F8FAFC"/>
                </a:solidFill>
                <a:latin typeface="Segoe UI"/>
              </a:defRPr>
            </a:pPr>
            <a:r>
              <a:t>Tailored for Builders &amp; Institutions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920240"/>
            <a:ext cx="44805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8BDF8"/>
                </a:solidFill>
                <a:latin typeface="Segoe UI"/>
              </a:defRPr>
            </a:pPr>
            <a:r>
              <a:t>Primary: Early-Stage Builders</a:t>
            </a:r>
          </a:p>
          <a:p>
            <a:pPr>
              <a:spcBef>
                <a:spcPts val="1600"/>
              </a:spcBef>
              <a:defRPr sz="1400">
                <a:solidFill>
                  <a:srgbClr val="F8FAFC"/>
                </a:solidFill>
                <a:latin typeface="Segoe UI"/>
              </a:defRPr>
            </a:pPr>
            <a:r>
              <a:t>• Hackathon participants &amp; students</a:t>
            </a:r>
          </a:p>
          <a:p>
            <a:pPr>
              <a:spcBef>
                <a:spcPts val="1600"/>
              </a:spcBef>
              <a:defRPr sz="1400">
                <a:solidFill>
                  <a:srgbClr val="F8FAFC"/>
                </a:solidFill>
                <a:latin typeface="Segoe UI"/>
              </a:defRPr>
            </a:pPr>
            <a:r>
              <a:t>• Side-project developers</a:t>
            </a:r>
          </a:p>
          <a:p>
            <a:pPr>
              <a:spcBef>
                <a:spcPts val="1600"/>
              </a:spcBef>
              <a:defRPr sz="1400">
                <a:solidFill>
                  <a:srgbClr val="F8FAFC"/>
                </a:solidFill>
                <a:latin typeface="Segoe UI"/>
              </a:defRPr>
            </a:pPr>
            <a:r>
              <a:t>• Need objective score validation</a:t>
            </a:r>
          </a:p>
          <a:p>
            <a:pPr>
              <a:spcBef>
                <a:spcPts val="1600"/>
              </a:spcBef>
              <a:defRPr sz="1400">
                <a:solidFill>
                  <a:srgbClr val="F8FAFC"/>
                </a:solidFill>
                <a:latin typeface="Segoe UI"/>
              </a:defRPr>
            </a:pPr>
            <a:r>
              <a:t>• Require structured milestone execution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72200" y="1645920"/>
            <a:ext cx="52120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37960" y="1920240"/>
            <a:ext cx="44805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8BDF8"/>
                </a:solidFill>
                <a:latin typeface="Segoe UI"/>
              </a:defRPr>
            </a:pPr>
            <a:r>
              <a:t>Secondary: Innovation Institutions</a:t>
            </a:r>
          </a:p>
          <a:p>
            <a:pPr>
              <a:spcBef>
                <a:spcPts val="1600"/>
              </a:spcBef>
              <a:defRPr sz="1400">
                <a:solidFill>
                  <a:srgbClr val="F8FAFC"/>
                </a:solidFill>
                <a:latin typeface="Segoe UI"/>
              </a:defRPr>
            </a:pPr>
            <a:r>
              <a:t>• Startup incubators &amp; accelerators</a:t>
            </a:r>
          </a:p>
          <a:p>
            <a:pPr>
              <a:spcBef>
                <a:spcPts val="1600"/>
              </a:spcBef>
              <a:defRPr sz="1400">
                <a:solidFill>
                  <a:srgbClr val="F8FAFC"/>
                </a:solidFill>
                <a:latin typeface="Segoe UI"/>
              </a:defRPr>
            </a:pPr>
            <a:r>
              <a:t>• College entrepreneurship cells</a:t>
            </a:r>
          </a:p>
          <a:p>
            <a:pPr>
              <a:spcBef>
                <a:spcPts val="1600"/>
              </a:spcBef>
              <a:defRPr sz="1400">
                <a:solidFill>
                  <a:srgbClr val="F8FAFC"/>
                </a:solidFill>
                <a:latin typeface="Segoe UI"/>
              </a:defRPr>
            </a:pPr>
            <a:r>
              <a:t>• Batch idea triage &amp; evaluation</a:t>
            </a:r>
          </a:p>
          <a:p>
            <a:pPr>
              <a:spcBef>
                <a:spcPts val="1600"/>
              </a:spcBef>
              <a:defRPr sz="1400">
                <a:solidFill>
                  <a:srgbClr val="F8FAFC"/>
                </a:solidFill>
                <a:latin typeface="Segoe UI"/>
              </a:defRPr>
            </a:pPr>
            <a:r>
              <a:t>• Cohort-wide founder progress tracking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BUSINESS MODEL</a:t>
            </a:r>
          </a:p>
          <a:p>
            <a:pPr>
              <a:defRPr sz="2800" b="1">
                <a:solidFill>
                  <a:srgbClr val="F8FAFC"/>
                </a:solidFill>
                <a:latin typeface="Segoe UI"/>
              </a:defRPr>
            </a:pPr>
            <a:r>
              <a:t>Freemium SaaS &amp; Institution Licensing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645920"/>
          <a:ext cx="1069848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1645920"/>
                <a:gridCol w="4389120"/>
                <a:gridCol w="2560320"/>
              </a:tblGrid>
              <a:tr h="8229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TIER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PRICE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CORE FEATURES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TARGET SEGMENT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Free Tier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₹0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3 ideas/mo, basic scoring, capped history, no Telegram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Hobbyists &amp; Curious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Builder Tier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Low Monthly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Unlimited ideas, full milestones, Telegram alerts, full history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Active Solo Builders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Cohort / Inst.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Per-seat / Flat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Everything in Builder + Mentor dashboard &amp; cohort reports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Incubators &amp; E-Cells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731520" y="5212080"/>
            <a:ext cx="10698480" cy="1097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530352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Segoe UI"/>
              </a:defRPr>
            </a:pPr>
            <a:r>
              <a:t>Secondary Revenue Lever: Usage-Based BYO-Key / High-Volume Add-on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  <a:latin typeface="Segoe UI"/>
              </a:defRPr>
            </a:pPr>
            <a:r>
              <a:t>• Enabled by existing multi-provider LLM routing architecture (Groq / Gemini / OpenAI keys).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TRANSPARENCY</a:t>
            </a:r>
          </a:p>
          <a:p>
            <a:pPr>
              <a:defRPr sz="2800" b="1">
                <a:solidFill>
                  <a:srgbClr val="F8FAFC"/>
                </a:solidFill>
                <a:latin typeface="Segoe UI"/>
              </a:defRPr>
            </a:pPr>
            <a:r>
              <a:t>Honest Gaps &amp; Future Roadmap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920240"/>
            <a:ext cx="44805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8BDF8"/>
                </a:solidFill>
                <a:latin typeface="Segoe UI"/>
              </a:defRPr>
            </a:pPr>
            <a:r>
              <a:t>Current Status (Built &amp; Working)</a:t>
            </a:r>
          </a:p>
          <a:p>
            <a:pPr>
              <a:spcBef>
                <a:spcPts val="1600"/>
              </a:spcBef>
              <a:defRPr sz="1400">
                <a:solidFill>
                  <a:srgbClr val="F8FAFC"/>
                </a:solidFill>
                <a:latin typeface="Segoe UI"/>
              </a:defRPr>
            </a:pPr>
            <a:r>
              <a:t>• Four-agent Planner/Critic pipeline</a:t>
            </a:r>
          </a:p>
          <a:p>
            <a:pPr>
              <a:spcBef>
                <a:spcPts val="1600"/>
              </a:spcBef>
              <a:defRPr sz="1400">
                <a:solidFill>
                  <a:srgbClr val="F8FAFC"/>
                </a:solidFill>
                <a:latin typeface="Segoe UI"/>
              </a:defRPr>
            </a:pPr>
            <a:r>
              <a:t>• FastAPI backend &amp; PostgreSQL/Supabase DB</a:t>
            </a:r>
          </a:p>
          <a:p>
            <a:pPr>
              <a:spcBef>
                <a:spcPts val="1600"/>
              </a:spcBef>
              <a:defRPr sz="1400">
                <a:solidFill>
                  <a:srgbClr val="F8FAFC"/>
                </a:solidFill>
                <a:latin typeface="Segoe UI"/>
              </a:defRPr>
            </a:pPr>
            <a:r>
              <a:t>• React Builder Dashboard UI</a:t>
            </a:r>
          </a:p>
          <a:p>
            <a:pPr>
              <a:spcBef>
                <a:spcPts val="1600"/>
              </a:spcBef>
              <a:defRPr sz="1400">
                <a:solidFill>
                  <a:srgbClr val="F8FAFC"/>
                </a:solidFill>
                <a:latin typeface="Segoe UI"/>
              </a:defRPr>
            </a:pPr>
            <a:r>
              <a:t>• Telegram bot scheduler &amp; handler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72200" y="1645920"/>
            <a:ext cx="52120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37960" y="1920240"/>
            <a:ext cx="44805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8BDF8"/>
                </a:solidFill>
                <a:latin typeface="Segoe UI"/>
              </a:defRPr>
            </a:pPr>
            <a:r>
              <a:t>Next Development Phase (Roadmap)</a:t>
            </a:r>
          </a:p>
          <a:p>
            <a:pPr>
              <a:spcBef>
                <a:spcPts val="1600"/>
              </a:spcBef>
              <a:defRPr sz="1400">
                <a:solidFill>
                  <a:srgbClr val="F8FAFC"/>
                </a:solidFill>
                <a:latin typeface="Segoe UI"/>
              </a:defRPr>
            </a:pPr>
            <a:r>
              <a:t>• Multi-user Authentication (JWT/OAuth)</a:t>
            </a:r>
          </a:p>
          <a:p>
            <a:pPr>
              <a:spcBef>
                <a:spcPts val="1600"/>
              </a:spcBef>
              <a:defRPr sz="1400">
                <a:solidFill>
                  <a:srgbClr val="F8FAFC"/>
                </a:solidFill>
                <a:latin typeface="Segoe UI"/>
              </a:defRPr>
            </a:pPr>
            <a:r>
              <a:t>• Stripe/Razorpay billing integration</a:t>
            </a:r>
          </a:p>
          <a:p>
            <a:pPr>
              <a:spcBef>
                <a:spcPts val="1600"/>
              </a:spcBef>
              <a:defRPr sz="1400">
                <a:solidFill>
                  <a:srgbClr val="F8FAFC"/>
                </a:solidFill>
                <a:latin typeface="Segoe UI"/>
              </a:defRPr>
            </a:pPr>
            <a:r>
              <a:t>• Mentor aggregate cohort analytics view</a:t>
            </a:r>
          </a:p>
          <a:p>
            <a:pPr>
              <a:spcBef>
                <a:spcPts val="1600"/>
              </a:spcBef>
              <a:defRPr sz="1400">
                <a:solidFill>
                  <a:srgbClr val="F8FAFC"/>
                </a:solidFill>
                <a:latin typeface="Segoe UI"/>
              </a:defRPr>
            </a:pPr>
            <a:r>
              <a:t>• Custom webhooks &amp; Discord integration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371600" y="1097280"/>
            <a:ext cx="9448495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1371600"/>
            <a:ext cx="85340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38BDF8"/>
                </a:solidFill>
                <a:latin typeface="Segoe UI"/>
              </a:defRPr>
            </a:pPr>
            <a:r>
              <a:t>JOIN US IN BUILDING THE FUTURE OF CO-FOUNDERS</a:t>
            </a:r>
          </a:p>
          <a:p>
            <a:pPr>
              <a:spcBef>
                <a:spcPts val="2000"/>
              </a:spcBef>
              <a:defRPr sz="1800" b="1">
                <a:solidFill>
                  <a:srgbClr val="F8FAFC"/>
                </a:solidFill>
                <a:latin typeface="Segoe UI"/>
              </a:defRPr>
            </a:pPr>
            <a:r>
              <a:t>The Ask &amp; Next Steps</a:t>
            </a:r>
          </a:p>
          <a:p>
            <a:pPr>
              <a:spcBef>
                <a:spcPts val="800"/>
              </a:spcBef>
              <a:defRPr sz="1400">
                <a:solidFill>
                  <a:srgbClr val="F8FAFC"/>
                </a:solidFill>
                <a:latin typeface="Segoe UI"/>
              </a:defRPr>
            </a:pPr>
            <a:r>
              <a:t>• Seeking Pre-Seed / Incubator Grant funding for API infra</a:t>
            </a:r>
          </a:p>
          <a:p>
            <a:pPr>
              <a:spcBef>
                <a:spcPts val="800"/>
              </a:spcBef>
              <a:defRPr sz="1400">
                <a:solidFill>
                  <a:srgbClr val="F8FAFC"/>
                </a:solidFill>
                <a:latin typeface="Segoe UI"/>
              </a:defRPr>
            </a:pPr>
            <a:r>
              <a:t>• Looking for Pilot Partners (Incubators, Hackathons, E-Cells)</a:t>
            </a:r>
          </a:p>
          <a:p>
            <a:pPr>
              <a:spcBef>
                <a:spcPts val="800"/>
              </a:spcBef>
              <a:defRPr sz="1400">
                <a:solidFill>
                  <a:srgbClr val="F8FAFC"/>
                </a:solidFill>
                <a:latin typeface="Segoe UI"/>
              </a:defRPr>
            </a:pPr>
            <a:r>
              <a:t>• Open for Technical Mentorship &amp; Growth Advisors</a:t>
            </a:r>
          </a:p>
          <a:p>
            <a:pPr algn="ctr">
              <a:spcBef>
                <a:spcPts val="2400"/>
              </a:spcBef>
              <a:defRPr sz="1400" b="1">
                <a:solidFill>
                  <a:srgbClr val="38BDF8"/>
                </a:solidFill>
                <a:latin typeface="Segoe UI"/>
              </a:defRPr>
            </a:pPr>
            <a:r>
              <a:t>Contact / Repository: github.com/Trusha25/insights-copilot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